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31" r:id="rId2"/>
    <p:sldId id="289" r:id="rId3"/>
    <p:sldId id="292" r:id="rId4"/>
    <p:sldId id="294" r:id="rId5"/>
    <p:sldId id="298" r:id="rId6"/>
    <p:sldId id="532" r:id="rId7"/>
    <p:sldId id="533" r:id="rId8"/>
    <p:sldId id="302" r:id="rId9"/>
    <p:sldId id="303" r:id="rId10"/>
    <p:sldId id="307" r:id="rId11"/>
    <p:sldId id="301" r:id="rId12"/>
  </p:sldIdLst>
  <p:sldSz cx="12192000" cy="6858000"/>
  <p:notesSz cx="6858000" cy="9144000"/>
  <p:embeddedFontLst>
    <p:embeddedFont>
      <p:font typeface="Aharoni" panose="02010803020104030203" pitchFamily="2" charset="-79"/>
      <p:bold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Medium" panose="00000600000000000000" pitchFamily="2" charset="0"/>
      <p:regular r:id="rId20"/>
      <p: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custDataLst>
    <p:tags r:id="rId3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90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Content">
  <p:cSld name="General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f68141a545_0_445"/>
          <p:cNvSpPr/>
          <p:nvPr/>
        </p:nvSpPr>
        <p:spPr>
          <a:xfrm>
            <a:off x="0" y="2689"/>
            <a:ext cx="688500" cy="6858000"/>
          </a:xfrm>
          <a:prstGeom prst="rect">
            <a:avLst/>
          </a:prstGeom>
          <a:solidFill>
            <a:srgbClr val="059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2f68141a545_0_445"/>
          <p:cNvSpPr txBox="1">
            <a:spLocks noGrp="1"/>
          </p:cNvSpPr>
          <p:nvPr>
            <p:ph type="title"/>
          </p:nvPr>
        </p:nvSpPr>
        <p:spPr>
          <a:xfrm>
            <a:off x="850492" y="245369"/>
            <a:ext cx="7572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7692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3769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g2f68141a545_0_4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50490" y="902171"/>
            <a:ext cx="790813" cy="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2f68141a545_0_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470" y="5707756"/>
            <a:ext cx="805981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7409"/>
            <a:ext cx="12193235" cy="67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4" y="4504626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MANOHAR R</a:t>
            </a:r>
            <a:endParaRPr lang="en-US" sz="1400" b="1" i="0" u="none" strike="noStrike" cap="none" dirty="0">
              <a:solidFill>
                <a:schemeClr val="dk1"/>
              </a:solidFill>
              <a:latin typeface="Montserrat Medium"/>
              <a:ea typeface="Arial"/>
              <a:cs typeface="Arial"/>
              <a:sym typeface="Montserrat Medium"/>
            </a:endParaRP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BHARATH J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CHANDU C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9156700" y="4855116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PRADYUMNA RAJAN GHOSH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SHUBASHISH TIWARI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4092874" y="264014"/>
            <a:ext cx="400501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Vehicle control unit(VCU)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9812887" y="141274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3083288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AEFFB-1A20-899A-F8E0-29DEDB267EF4}"/>
              </a:ext>
            </a:extLst>
          </p:cNvPr>
          <p:cNvSpPr txBox="1"/>
          <p:nvPr/>
        </p:nvSpPr>
        <p:spPr>
          <a:xfrm>
            <a:off x="721772" y="3425244"/>
            <a:ext cx="99431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Main Goals </a:t>
            </a:r>
          </a:p>
          <a:p>
            <a:r>
              <a:rPr lang="en-US" dirty="0"/>
              <a:t>• Design a modular AUTOSAR-based VCU architecture for a 2-wheeler EV</a:t>
            </a:r>
            <a:br>
              <a:rPr lang="en-US" dirty="0"/>
            </a:br>
            <a:r>
              <a:rPr lang="en-US" dirty="0"/>
              <a:t>• Develop a CAN communication framework between EV subsystems</a:t>
            </a:r>
            <a:br>
              <a:rPr lang="en-US" dirty="0"/>
            </a:br>
            <a:r>
              <a:rPr lang="en-US" dirty="0"/>
              <a:t>• Build and simulate VCU control logic (throttle, brake override, battery safety) in MATLAB</a:t>
            </a:r>
            <a:br>
              <a:rPr lang="en-US" dirty="0"/>
            </a:br>
            <a:r>
              <a:rPr lang="en-US" dirty="0"/>
              <a:t>• Create complete architecture, block, flow, and CAN diagrams</a:t>
            </a:r>
            <a:br>
              <a:rPr lang="en-US" dirty="0"/>
            </a:br>
            <a:r>
              <a:rPr lang="en-US" dirty="0"/>
              <a:t>• Validate system </a:t>
            </a:r>
            <a:r>
              <a:rPr lang="en-US" dirty="0" err="1"/>
              <a:t>behaviour</a:t>
            </a:r>
            <a:r>
              <a:rPr lang="en-US" dirty="0"/>
              <a:t> using defined use-cases and test-cases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Additional Goals </a:t>
            </a:r>
          </a:p>
          <a:p>
            <a:r>
              <a:rPr lang="en-IN" dirty="0"/>
              <a:t>• Explore integration of ABS, traction control, and advanced EV features</a:t>
            </a:r>
            <a:br>
              <a:rPr lang="en-IN" dirty="0"/>
            </a:br>
            <a:r>
              <a:rPr lang="en-IN" dirty="0"/>
              <a:t>• Add diagnostic and safety mechanisms (CAN error handling, timeouts, limp mode)</a:t>
            </a:r>
            <a:br>
              <a:rPr lang="en-IN" dirty="0"/>
            </a:br>
            <a:r>
              <a:rPr lang="en-IN" dirty="0"/>
              <a:t>• Study possibility of AUTOSAR Adaptive upgrade for future EVs</a:t>
            </a:r>
            <a:br>
              <a:rPr lang="en-IN" dirty="0"/>
            </a:br>
            <a:r>
              <a:rPr lang="en-IN" dirty="0"/>
              <a:t>• Improve scalability and maintainability of EV control software</a:t>
            </a:r>
            <a:br>
              <a:rPr lang="en-IN" dirty="0"/>
            </a:br>
            <a:r>
              <a:rPr lang="en-IN" dirty="0"/>
              <a:t>• Enable future OTA updates and remote diagnostics capability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B0DB4C-A49C-33E2-584D-1578B0659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6" y="1337024"/>
            <a:ext cx="72282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AUTOSAR layered architecture for a 2W EV VCU.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CAN communication for sensors, BMS, and motor controller.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torque, braking, and battery logic for the VCU.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EV control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MATLAB.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using use-cases and system test-cases.</a:t>
            </a:r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(Clearly mention milestone for objectives under each reviews)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33CB06-0C43-ED15-C276-C20E4B680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17615"/>
              </p:ext>
            </p:extLst>
          </p:nvPr>
        </p:nvGraphicFramePr>
        <p:xfrm>
          <a:off x="192024" y="1097281"/>
          <a:ext cx="11713468" cy="4889189"/>
        </p:xfrm>
        <a:graphic>
          <a:graphicData uri="http://schemas.openxmlformats.org/drawingml/2006/table">
            <a:tbl>
              <a:tblPr/>
              <a:tblGrid>
                <a:gridCol w="901036">
                  <a:extLst>
                    <a:ext uri="{9D8B030D-6E8A-4147-A177-3AD203B41FA5}">
                      <a16:colId xmlns:a16="http://schemas.microsoft.com/office/drawing/2014/main" val="3555020071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2043815466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3912970353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872774135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2750422372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1100240267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4152155799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4291802468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3173170713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3505021420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3892333038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2221481192"/>
                    </a:ext>
                  </a:extLst>
                </a:gridCol>
                <a:gridCol w="901036">
                  <a:extLst>
                    <a:ext uri="{9D8B030D-6E8A-4147-A177-3AD203B41FA5}">
                      <a16:colId xmlns:a16="http://schemas.microsoft.com/office/drawing/2014/main" val="1548050450"/>
                    </a:ext>
                  </a:extLst>
                </a:gridCol>
              </a:tblGrid>
              <a:tr h="42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Task / Milestone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1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2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3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4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5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6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7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8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9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10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11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b="1"/>
                        <a:t>Week 12</a:t>
                      </a: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41517"/>
                  </a:ext>
                </a:extLst>
              </a:tr>
              <a:tr h="805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Requirement Study &amp; Literature Survey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716721"/>
                  </a:ext>
                </a:extLst>
              </a:tr>
              <a:tr h="68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Architecture Design (VCU + CAN)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19913"/>
                  </a:ext>
                </a:extLst>
              </a:tr>
              <a:tr h="931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Behaviour Design (Flowcharts, Use-cases)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151376"/>
                  </a:ext>
                </a:extLst>
              </a:tr>
              <a:tr h="805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MATLAB/Simulink Implementation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135501"/>
                  </a:ext>
                </a:extLst>
              </a:tr>
              <a:tr h="555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Testing &amp; Validation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67055"/>
                  </a:ext>
                </a:extLst>
              </a:tr>
              <a:tr h="68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Documentation &amp; Final PPT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████████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17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89FAE14-3F2D-9B3A-FA7E-862D36BC1477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Publications </a:t>
            </a:r>
          </a:p>
          <a:p>
            <a:pPr lvl="0"/>
            <a:r>
              <a:rPr lang="en-IN" dirty="0"/>
              <a:t>• AUTOSAR-based EV Control Systems – architecture, BSW, RTE, SWC design</a:t>
            </a:r>
            <a:br>
              <a:rPr lang="en-IN" dirty="0"/>
            </a:br>
            <a:r>
              <a:rPr lang="en-IN" dirty="0"/>
              <a:t>• CAN Bus in Electric/Hybrid Vehicles – message structure, arbitration, reliability</a:t>
            </a:r>
            <a:br>
              <a:rPr lang="en-IN" dirty="0"/>
            </a:br>
            <a:r>
              <a:rPr lang="en-IN" dirty="0"/>
              <a:t>• VCU Design for Electric Vehicles – motor control, torque mapping, safety logic</a:t>
            </a:r>
            <a:br>
              <a:rPr lang="en-IN" dirty="0"/>
            </a:br>
            <a:r>
              <a:rPr lang="en-IN" dirty="0"/>
              <a:t>• Regenerative Braking Strategies in EVs – torque blending &amp; energy recovery</a:t>
            </a:r>
            <a:br>
              <a:rPr lang="en-IN" dirty="0"/>
            </a:br>
            <a:r>
              <a:rPr lang="en-IN" dirty="0"/>
              <a:t>• CAN Diagnostics &amp; Security – error handling, IDS &amp; fault detection</a:t>
            </a:r>
            <a:br>
              <a:rPr lang="en-IN" dirty="0"/>
            </a:br>
            <a:r>
              <a:rPr lang="en-IN" dirty="0"/>
              <a:t>• Model-Based Development for Automotive ECUs – MATLAB/Simulink workflows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Resources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• Two-wheeler EV Platform Application Notes (VCU–BMS–MCU interfaces)</a:t>
            </a:r>
            <a:br>
              <a:rPr lang="en-IN" dirty="0"/>
            </a:br>
            <a:r>
              <a:rPr lang="en-IN" dirty="0"/>
              <a:t>• OEM &amp; Tier-1 AUTOSAR documentation and training notes</a:t>
            </a:r>
            <a:br>
              <a:rPr lang="en-IN" dirty="0"/>
            </a:br>
            <a:r>
              <a:rPr lang="en-IN" dirty="0"/>
              <a:t>• CAN (ISO 11898) protocol overview + application design notes</a:t>
            </a:r>
            <a:br>
              <a:rPr lang="en-IN" dirty="0"/>
            </a:br>
            <a:r>
              <a:rPr lang="en-IN" dirty="0"/>
              <a:t>• Motor controller datasheets (torque command structure, CAN communication)</a:t>
            </a:r>
            <a:br>
              <a:rPr lang="en-IN" dirty="0"/>
            </a:br>
            <a:r>
              <a:rPr lang="en-IN" dirty="0"/>
              <a:t>• Battery Management System documentation (voltage, SoC message formats)</a:t>
            </a:r>
            <a:br>
              <a:rPr lang="en-IN" dirty="0"/>
            </a:br>
            <a:r>
              <a:rPr lang="en-IN" dirty="0"/>
              <a:t>• Automotive safety &amp; diagnostics guidelines (UDS basics, error codes)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Existing Implementations</a:t>
            </a:r>
          </a:p>
          <a:p>
            <a:pPr lvl="0"/>
            <a:r>
              <a:rPr lang="en-IN" dirty="0"/>
              <a:t>• Commercial 2W EV platforms with VCU–BMS–MCU CAN integration</a:t>
            </a:r>
            <a:br>
              <a:rPr lang="en-IN" dirty="0"/>
            </a:br>
            <a:r>
              <a:rPr lang="en-IN" dirty="0"/>
              <a:t>• Open-source CAN stack implementations and EV CAN message databases</a:t>
            </a:r>
            <a:br>
              <a:rPr lang="en-IN" dirty="0"/>
            </a:br>
            <a:r>
              <a:rPr lang="en-IN" dirty="0"/>
              <a:t>• GitHub EV controller projects (VCU logic prototypes, CAN monitoring tools)</a:t>
            </a:r>
            <a:br>
              <a:rPr lang="en-IN" dirty="0"/>
            </a:br>
            <a:r>
              <a:rPr lang="en-IN" dirty="0"/>
              <a:t>• Academic EV motorcycle/scooter VCU designs and thesis implementations</a:t>
            </a:r>
            <a:br>
              <a:rPr lang="en-IN" dirty="0"/>
            </a:br>
            <a:r>
              <a:rPr lang="en-IN" dirty="0"/>
              <a:t>• Open-source regenerative braking control demos (MATLAB-based)</a:t>
            </a:r>
            <a:br>
              <a:rPr lang="en-IN" dirty="0"/>
            </a:br>
            <a:r>
              <a:rPr lang="en-IN" dirty="0"/>
              <a:t>• CAN analyser tools (open-source) showing real-time EV CAN decoding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Architecture  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1DCD2FE-F6D8-3416-49EA-CE0660F5B1E7}"/>
              </a:ext>
            </a:extLst>
          </p:cNvPr>
          <p:cNvSpPr txBox="1"/>
          <p:nvPr/>
        </p:nvSpPr>
        <p:spPr>
          <a:xfrm>
            <a:off x="452284" y="788096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Structural Diagram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7B3FE64C-ED43-A052-11E8-812792B8FDDF}"/>
              </a:ext>
            </a:extLst>
          </p:cNvPr>
          <p:cNvSpPr txBox="1"/>
          <p:nvPr/>
        </p:nvSpPr>
        <p:spPr>
          <a:xfrm>
            <a:off x="6213988" y="757114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Behaviour Diagram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3F4CA-8D2A-4957-07B2-F8CEADE28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930551"/>
            <a:ext cx="5407190" cy="3606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5AE52-6885-E1D5-5467-20B10E2B2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824" y="1868530"/>
            <a:ext cx="5191900" cy="366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5D3A-9A48-EF9A-EB65-EB10498F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AF62C-2799-3920-609C-4BB1158D8D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B16CBD0-DE63-9577-B3D8-89D754C838DF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260EAF32-7213-2CCB-4658-501C4BEA8CF4}"/>
              </a:ext>
            </a:extLst>
          </p:cNvPr>
          <p:cNvSpPr txBox="1"/>
          <p:nvPr/>
        </p:nvSpPr>
        <p:spPr>
          <a:xfrm>
            <a:off x="452284" y="788096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Use Cases</a:t>
            </a:r>
          </a:p>
          <a:p>
            <a:pPr lvl="0"/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06D282-1D4B-1158-1E2C-A8D554CB7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970259"/>
              </p:ext>
            </p:extLst>
          </p:nvPr>
        </p:nvGraphicFramePr>
        <p:xfrm>
          <a:off x="722376" y="1106424"/>
          <a:ext cx="9573768" cy="5070538"/>
        </p:xfrm>
        <a:graphic>
          <a:graphicData uri="http://schemas.openxmlformats.org/drawingml/2006/table">
            <a:tbl>
              <a:tblPr/>
              <a:tblGrid>
                <a:gridCol w="1595628">
                  <a:extLst>
                    <a:ext uri="{9D8B030D-6E8A-4147-A177-3AD203B41FA5}">
                      <a16:colId xmlns:a16="http://schemas.microsoft.com/office/drawing/2014/main" val="2692247081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970481973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204720635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1356664927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1352133115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2132331471"/>
                    </a:ext>
                  </a:extLst>
                </a:gridCol>
              </a:tblGrid>
              <a:tr h="210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Use Case ID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Use Case Name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Description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Actors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Preconditions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Postconditions</a:t>
                      </a:r>
                      <a:endParaRPr lang="en-IN" sz="800"/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869593"/>
                  </a:ext>
                </a:extLst>
              </a:tr>
              <a:tr h="652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UC-01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Vehicle Start/Stop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Control unit manages power-on and power-off sequences safely.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Rider, VCU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Battery connected, key 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Motor ready to run or vehicle shut down safely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9297"/>
                  </a:ext>
                </a:extLst>
              </a:tr>
              <a:tr h="79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UC-02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Motor Control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regulates motor speed, torque, and direction via CAN bus.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Rider, VCU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Vehicle started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Motor speed matches rider input (throttle/brake)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192058"/>
                  </a:ext>
                </a:extLst>
              </a:tr>
              <a:tr h="79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UC-03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Battery Monitoring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monitors battery voltage, SOC (State of Charge), and temperature.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VCU, Battery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Battery connected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Alerts if battery low or overheated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27545"/>
                  </a:ext>
                </a:extLst>
              </a:tr>
              <a:tr h="652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UC-04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Dashboard Display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sends data to dashboard via CAN (speed, battery, warnings).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VCU, Dashboard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Vehicle powered 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Rider sees real-time vehicle data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232924"/>
                  </a:ext>
                </a:extLst>
              </a:tr>
              <a:tr h="652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UC-05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Fault Detection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detects system faults like overcurrent, sensor failure.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VCU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Vehicle powered 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Fault warning triggered, vehicle limited or stopped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180242"/>
                  </a:ext>
                </a:extLst>
              </a:tr>
              <a:tr h="50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UC-06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Regenerative Braking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controls braking energy recovery to battery.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Rider, VCU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Vehicle in motion, brake applied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Energy sent to battery, speed reduced smoothly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833769"/>
                  </a:ext>
                </a:extLst>
              </a:tr>
              <a:tr h="79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UC-07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CAN Communication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exchanges messages with motor controller, dashboard, and sensors.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VCU, ECUs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VCU and ECUs powered ON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Reliable communication without errors</a:t>
                      </a:r>
                    </a:p>
                  </a:txBody>
                  <a:tcPr marL="54166" marR="54166" marT="27083" marB="270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97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42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6FD7EB-02ED-0655-CAC8-E1322CA1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TEST CASES</a:t>
            </a:r>
            <a:endParaRPr lang="en-IN" sz="3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13BAC-CC5E-F7AE-C66F-EEB43AAF7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TEST CASES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5822D-92B6-9E31-72DE-B20B1065B6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EFBE0A-7317-20C0-C8C2-669FD1D39CCF}"/>
              </a:ext>
            </a:extLst>
          </p:cNvPr>
          <p:cNvGraphicFramePr>
            <a:graphicFrameLocks noGrp="1"/>
          </p:cNvGraphicFramePr>
          <p:nvPr/>
        </p:nvGraphicFramePr>
        <p:xfrm>
          <a:off x="1404715" y="1825624"/>
          <a:ext cx="9382570" cy="4351341"/>
        </p:xfrm>
        <a:graphic>
          <a:graphicData uri="http://schemas.openxmlformats.org/drawingml/2006/table">
            <a:tbl>
              <a:tblPr/>
              <a:tblGrid>
                <a:gridCol w="1876514">
                  <a:extLst>
                    <a:ext uri="{9D8B030D-6E8A-4147-A177-3AD203B41FA5}">
                      <a16:colId xmlns:a16="http://schemas.microsoft.com/office/drawing/2014/main" val="1947544555"/>
                    </a:ext>
                  </a:extLst>
                </a:gridCol>
                <a:gridCol w="1876514">
                  <a:extLst>
                    <a:ext uri="{9D8B030D-6E8A-4147-A177-3AD203B41FA5}">
                      <a16:colId xmlns:a16="http://schemas.microsoft.com/office/drawing/2014/main" val="958599827"/>
                    </a:ext>
                  </a:extLst>
                </a:gridCol>
                <a:gridCol w="1876514">
                  <a:extLst>
                    <a:ext uri="{9D8B030D-6E8A-4147-A177-3AD203B41FA5}">
                      <a16:colId xmlns:a16="http://schemas.microsoft.com/office/drawing/2014/main" val="2323068987"/>
                    </a:ext>
                  </a:extLst>
                </a:gridCol>
                <a:gridCol w="1876514">
                  <a:extLst>
                    <a:ext uri="{9D8B030D-6E8A-4147-A177-3AD203B41FA5}">
                      <a16:colId xmlns:a16="http://schemas.microsoft.com/office/drawing/2014/main" val="1674812266"/>
                    </a:ext>
                  </a:extLst>
                </a:gridCol>
                <a:gridCol w="1876514">
                  <a:extLst>
                    <a:ext uri="{9D8B030D-6E8A-4147-A177-3AD203B41FA5}">
                      <a16:colId xmlns:a16="http://schemas.microsoft.com/office/drawing/2014/main" val="35181244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Test Case ID</a:t>
                      </a:r>
                      <a:endParaRPr lang="en-IN" sz="1200"/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Test Description</a:t>
                      </a:r>
                      <a:endParaRPr lang="en-IN" sz="1200"/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Input</a:t>
                      </a:r>
                      <a:endParaRPr lang="en-IN" sz="1200"/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Expected Output</a:t>
                      </a:r>
                      <a:endParaRPr lang="en-IN" sz="1200"/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Pass/Fail Criteria</a:t>
                      </a:r>
                      <a:endParaRPr lang="en-IN" sz="1200"/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145641"/>
                  </a:ext>
                </a:extLst>
              </a:tr>
              <a:tr h="652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TC-01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Start Vehicle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Turn key ON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Motor powers up, dashboard shows READY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Motor and dashboard respond correctly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18156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TC-02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Motor Speed Control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Throttle input 0–100%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Motor speed changes proportionally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Speed follows throttle input accurately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81982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TC-03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Battery Low Warning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Discharge battery to 20% SOC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Dashboard shows battery low alert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Alert displayed at correct SOC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00165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TC-04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Overcurrent Protection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Simulate motor overcurrent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VCU limits current, triggers warning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Motor current limited, warning triggered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84438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TC-05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CAN Message Transmission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Send speed data to dashboard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Dashboard receives accurate speed data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 matches transmitted values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549557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TC-06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Regenerative Braking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Apply brakes at 30 km/h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Motor reverses torque, battery charges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Braking smooth, battery SOC increases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440148"/>
                  </a:ext>
                </a:extLst>
              </a:tr>
              <a:tr h="652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TC-07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Sensor Failure Detection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Disconnect wheel speed sensor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VCU triggers fault warning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Dashboard displays fault, vehicle slows or stops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725024"/>
                  </a:ext>
                </a:extLst>
              </a:tr>
              <a:tr h="4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TC-08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Vehicle Shutdown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Turn key OFF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Motor stops, dashboard powers down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Vehicle shuts down safely without error</a:t>
                      </a:r>
                    </a:p>
                  </a:txBody>
                  <a:tcPr marL="81588" marR="81588" marT="40794" marB="407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16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17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2333-A005-FEA0-4811-C852E2C2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AD13B1-3AD5-5F48-5EA6-8283F4D73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3B14D212-DF1F-F61D-ECD3-9D20601BCEB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ECA415C5-05E9-EE8C-B516-CAA160872052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93CD0-04E2-5194-3E0E-9A04456D8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275" y="1382852"/>
            <a:ext cx="5509737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90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FB4E-AB25-B986-6544-C0296069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EDE2B-D87B-D03F-3482-F7F114A4F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C625E54E-A86D-9B94-B470-0435C69F95E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67B823CE-7BA9-D714-A424-29AA44BD6144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56928-B462-8D79-7D63-7035B672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035" y="624597"/>
            <a:ext cx="9121930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68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98FA-4F35-C93F-73A2-485950D0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32046-4ACE-A1E3-4010-52881C98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9BB43107-1A1B-029D-C73C-2126600571B2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8EB3901A-2C1A-A66B-C9AE-81E8FAFAB4FF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US" dirty="0"/>
              <a:t>• The project successfully analyzed and designed an </a:t>
            </a:r>
            <a:r>
              <a:rPr lang="en-US" b="1" dirty="0"/>
              <a:t>AUTOSAR-oriented Vehicle Control Unit (VCU)</a:t>
            </a:r>
            <a:r>
              <a:rPr lang="en-US" dirty="0"/>
              <a:t> architecture for a 2-wheeler electric vehicle.</a:t>
            </a:r>
            <a:br>
              <a:rPr lang="en-US" dirty="0"/>
            </a:br>
            <a:r>
              <a:rPr lang="en-US" dirty="0"/>
              <a:t>• A complete </a:t>
            </a:r>
            <a:r>
              <a:rPr lang="en-US" b="1" dirty="0"/>
              <a:t>CAN communication framework</a:t>
            </a:r>
            <a:r>
              <a:rPr lang="en-US" dirty="0"/>
              <a:t> was defined for sensors, BMS, VCU, and motor controller.</a:t>
            </a:r>
            <a:br>
              <a:rPr lang="en-US" dirty="0"/>
            </a:br>
            <a:r>
              <a:rPr lang="en-US" dirty="0"/>
              <a:t>• Essential VCU control logic including </a:t>
            </a:r>
            <a:r>
              <a:rPr lang="en-US" b="1" dirty="0"/>
              <a:t>throttle processing, brake override, torque mapping, and battery protection</a:t>
            </a:r>
            <a:r>
              <a:rPr lang="en-US" dirty="0"/>
              <a:t> was developed and simulated.</a:t>
            </a:r>
            <a:br>
              <a:rPr lang="en-US" dirty="0"/>
            </a:br>
            <a:r>
              <a:rPr lang="en-US" dirty="0"/>
              <a:t>• MATLAB simulation results validated the </a:t>
            </a:r>
            <a:r>
              <a:rPr lang="en-US" dirty="0" err="1"/>
              <a:t>behaviour</a:t>
            </a:r>
            <a:r>
              <a:rPr lang="en-US" dirty="0"/>
              <a:t> of the proposed VCU, demonstrating correct torque response, safety </a:t>
            </a:r>
            <a:r>
              <a:rPr lang="en-US" dirty="0" err="1"/>
              <a:t>prioritisation</a:t>
            </a:r>
            <a:r>
              <a:rPr lang="en-US" dirty="0"/>
              <a:t>, and low-battery torque limitation.</a:t>
            </a:r>
            <a:br>
              <a:rPr lang="en-US" dirty="0"/>
            </a:br>
            <a:r>
              <a:rPr lang="en-US" dirty="0"/>
              <a:t>• Overall, the project delivers a </a:t>
            </a:r>
            <a:r>
              <a:rPr lang="en-US" b="1" dirty="0"/>
              <a:t>scalable, modular, and industry-relevant control architecture</a:t>
            </a:r>
            <a:r>
              <a:rPr lang="en-US" dirty="0"/>
              <a:t> suitable for modern 2-wheeler EV platforms.</a:t>
            </a: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Future Work</a:t>
            </a:r>
          </a:p>
          <a:p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/>
              <a:t>• Integrate </a:t>
            </a:r>
            <a:r>
              <a:rPr lang="en-IN" b="1" dirty="0"/>
              <a:t>ABS, traction control, and ride-mode selection</a:t>
            </a:r>
            <a:r>
              <a:rPr lang="en-IN" dirty="0"/>
              <a:t> into the VCU for advanced vehicle dynamics control.</a:t>
            </a:r>
            <a:br>
              <a:rPr lang="en-IN" dirty="0"/>
            </a:br>
            <a:r>
              <a:rPr lang="en-IN" dirty="0"/>
              <a:t>• Extend AUTOSAR-Classic design toward </a:t>
            </a:r>
            <a:r>
              <a:rPr lang="en-IN" b="1" dirty="0"/>
              <a:t>AUTOSAR Adaptive</a:t>
            </a:r>
            <a:r>
              <a:rPr lang="en-IN" dirty="0"/>
              <a:t> for enhanced communication, diagnostic, and OTA capabilities.</a:t>
            </a:r>
            <a:br>
              <a:rPr lang="en-IN" dirty="0"/>
            </a:br>
            <a:r>
              <a:rPr lang="en-IN" dirty="0"/>
              <a:t>• Implement </a:t>
            </a:r>
            <a:r>
              <a:rPr lang="en-IN" b="1" dirty="0"/>
              <a:t>regenerative braking optimisation</a:t>
            </a:r>
            <a:r>
              <a:rPr lang="en-IN" dirty="0"/>
              <a:t> and energy-efficient torque strategies.</a:t>
            </a:r>
            <a:br>
              <a:rPr lang="en-IN" dirty="0"/>
            </a:br>
            <a:r>
              <a:rPr lang="en-IN" dirty="0"/>
              <a:t>• Add </a:t>
            </a:r>
            <a:r>
              <a:rPr lang="en-IN" b="1" dirty="0"/>
              <a:t>cybersecurity, intrusion detection</a:t>
            </a:r>
            <a:r>
              <a:rPr lang="en-IN" dirty="0"/>
              <a:t>, and encrypted CAN communication for improved EV safety.</a:t>
            </a:r>
            <a:br>
              <a:rPr lang="en-IN" dirty="0"/>
            </a:br>
            <a:r>
              <a:rPr lang="en-IN" dirty="0"/>
              <a:t>• Move toward </a:t>
            </a:r>
            <a:r>
              <a:rPr lang="en-IN" b="1" dirty="0"/>
              <a:t>Hardware-in-the-Loop (HIL) testing</a:t>
            </a:r>
            <a:r>
              <a:rPr lang="en-IN" dirty="0"/>
              <a:t> and integration with real motor controller/BMS hardware.</a:t>
            </a:r>
            <a:br>
              <a:rPr lang="en-IN" dirty="0"/>
            </a:br>
            <a:r>
              <a:rPr lang="en-IN" dirty="0"/>
              <a:t>• Develop a full </a:t>
            </a:r>
            <a:r>
              <a:rPr lang="en-IN" b="1" dirty="0"/>
              <a:t>production-grade VCU firmware</a:t>
            </a:r>
            <a:r>
              <a:rPr lang="en-IN" dirty="0"/>
              <a:t> using embedded C, MCAL drivers, and AUTOSAR configuration tools.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6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1197</Words>
  <Application>Microsoft Office PowerPoint</Application>
  <PresentationFormat>Widescreen</PresentationFormat>
  <Paragraphs>204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Open Sans</vt:lpstr>
      <vt:lpstr>Verdana</vt:lpstr>
      <vt:lpstr>Poppins SemiBold</vt:lpstr>
      <vt:lpstr>Calibri</vt:lpstr>
      <vt:lpstr>Aharoni</vt:lpstr>
      <vt:lpstr>Arial</vt:lpstr>
      <vt:lpstr>Montserrat</vt:lpstr>
      <vt:lpstr>Montserrat Medium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CASES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reddymasi manohar</cp:lastModifiedBy>
  <cp:revision>34</cp:revision>
  <dcterms:created xsi:type="dcterms:W3CDTF">2022-05-23T07:15:42Z</dcterms:created>
  <dcterms:modified xsi:type="dcterms:W3CDTF">2025-11-21T03:14:47Z</dcterms:modified>
</cp:coreProperties>
</file>